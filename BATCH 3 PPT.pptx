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2" r:id="rId8"/>
    <p:sldId id="262" r:id="rId9"/>
    <p:sldId id="263" r:id="rId10"/>
    <p:sldId id="264" r:id="rId11"/>
    <p:sldId id="265" r:id="rId12"/>
    <p:sldId id="266" r:id="rId13"/>
    <p:sldId id="267" r:id="rId14"/>
    <p:sldId id="268" r:id="rId15"/>
    <p:sldId id="269" r:id="rId16"/>
    <p:sldId id="271" r:id="rId17"/>
    <p:sldId id="273" r:id="rId18"/>
  </p:sldIdLst>
  <p:sldSz cx="12192000" cy="6858000"/>
  <p:notesSz cx="6858000" cy="9144000"/>
  <p:embeddedFontLst>
    <p:embeddedFont>
      <p:font typeface="Arial Narrow" panose="020B0606020202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282954-5174-4F31-A0F9-3197DDE5C557}"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a:font>
          <a:latin typeface="Calibri"/>
          <a:ea typeface="Calibri"/>
          <a:cs typeface="Calibri"/>
        </a:font>
        <a:schemeClr val="lt1"/>
      </a:tcTxStyle>
      <a:tcStyle>
        <a:tcBdr/>
        <a:fill>
          <a:solidFill>
            <a:schemeClr val="accent6"/>
          </a:solidFill>
        </a:fill>
      </a:tcStyle>
    </a:lastCol>
    <a:firstCol>
      <a:tcTxStyle b="on">
        <a:font>
          <a:latin typeface="Calibri"/>
          <a:ea typeface="Calibri"/>
          <a:cs typeface="Calibri"/>
        </a:font>
        <a:schemeClr val="lt1"/>
      </a:tcTxStyle>
      <a:tcStyle>
        <a:tcBdr/>
        <a:fill>
          <a:solidFill>
            <a:schemeClr val="accent6"/>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font" Target="fonts/font2.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font" Target="fonts/font1.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4.fntdata"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3.fntdata"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a:spLocks noGrp="1"/>
          </p:cNvSpPr>
          <p:nvPr>
            <p:ph type="pic" idx="2"/>
          </p:nvPr>
        </p:nvSpPr>
        <p:spPr>
          <a:xfrm>
            <a:off x="5183188" y="987425"/>
            <a:ext cx="6172200" cy="4873625"/>
          </a:xfrm>
          <a:prstGeom prst="rect">
            <a:avLst/>
          </a:prstGeom>
          <a:noFill/>
          <a:ln>
            <a:noFill/>
          </a:ln>
        </p:spPr>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author/37086503023" TargetMode="External"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5.tmp"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6.tmp"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7.tmp"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8.tmp"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9.tmp"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0" y="2342250"/>
            <a:ext cx="12119100" cy="4194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600"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DEPARTMENT OF  COMPUTER SCIENCE AND ENGINEERING</a:t>
            </a:r>
            <a:endParaRPr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p>
            <a:pPr marL="0" lvl="0" indent="0" algn="ctr" rtl="0">
              <a:spcBef>
                <a:spcPts val="1000"/>
              </a:spcBef>
              <a:spcAft>
                <a:spcPts val="0"/>
              </a:spcAft>
              <a:buClr>
                <a:schemeClr val="dk1"/>
              </a:buClr>
              <a:buSzPts val="1100"/>
              <a:buFont typeface="Arial" panose="020B0604020202020204"/>
              <a:buNone/>
            </a:pPr>
            <a:r>
              <a:rPr lang="en-US" b="1" dirty="0">
                <a:latin typeface="Arial Narrow" panose="020B0606020202030204" pitchFamily="34" charset="0"/>
                <a:ea typeface="Arial Narrow" panose="020B0606020202030204"/>
                <a:cs typeface="Times New Roman" panose="02020603050405020304" pitchFamily="18" charset="0"/>
                <a:sym typeface="Arial Narrow" panose="020B0606020202030204"/>
              </a:rPr>
              <a:t>20CS8504  &amp; PROJECT WORK</a:t>
            </a:r>
            <a:endParaRPr b="1" dirty="0">
              <a:latin typeface="Arial Narrow" panose="020B0606020202030204" pitchFamily="34" charset="0"/>
              <a:ea typeface="Arial Narrow" panose="020B0606020202030204"/>
              <a:cs typeface="Times New Roman" panose="02020603050405020304" pitchFamily="18" charset="0"/>
              <a:sym typeface="Arial Narrow" panose="020B0606020202030204"/>
            </a:endParaRPr>
          </a:p>
          <a:p>
            <a:pPr marL="0" lvl="0" indent="0" algn="ctr" rtl="0">
              <a:lnSpc>
                <a:spcPct val="90000"/>
              </a:lnSpc>
              <a:spcBef>
                <a:spcPts val="1000"/>
              </a:spcBef>
              <a:spcAft>
                <a:spcPts val="0"/>
              </a:spcAft>
              <a:buClr>
                <a:schemeClr val="dk1"/>
              </a:buClr>
              <a:buSzPts val="2800"/>
              <a:buNone/>
            </a:pPr>
            <a:r>
              <a:rPr lang="en-US" b="1" dirty="0">
                <a:latin typeface="Arial Narrow" panose="020B0606020202030204" pitchFamily="34" charset="0"/>
                <a:ea typeface="Arial Narrow" panose="020B0606020202030204"/>
                <a:cs typeface="Times New Roman" panose="02020603050405020304" pitchFamily="18" charset="0"/>
                <a:sym typeface="Arial Narrow" panose="020B0606020202030204"/>
              </a:rPr>
              <a:t>END SEMESTER PRACTICAL EXAMINATION - APRIL/MAY - 2026</a:t>
            </a:r>
          </a:p>
          <a:p>
            <a:pPr marL="0" lvl="0" indent="0" algn="ctr" rtl="0">
              <a:lnSpc>
                <a:spcPct val="90000"/>
              </a:lnSpc>
              <a:spcBef>
                <a:spcPts val="1000"/>
              </a:spcBef>
              <a:spcAft>
                <a:spcPts val="0"/>
              </a:spcAft>
              <a:buClr>
                <a:schemeClr val="dk1"/>
              </a:buClr>
              <a:buSzPts val="2800"/>
              <a:buNone/>
            </a:pPr>
            <a:endParaRPr dirty="0">
              <a:latin typeface="Arial Narrow" panose="020B0606020202030204" pitchFamily="34" charset="0"/>
              <a:ea typeface="Arial Narrow" panose="020B0606020202030204"/>
              <a:cs typeface="Times New Roman" panose="02020603050405020304" pitchFamily="18" charset="0"/>
              <a:sym typeface="Arial Narrow" panose="020B06060202020302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Batch No.: 3</a:t>
            </a:r>
            <a:endParaRPr dirty="0">
              <a:latin typeface="Arial Narrow" panose="020B0606020202030204" pitchFamily="34" charset="0"/>
              <a:ea typeface="Arial Narrow" panose="020B0606020202030204"/>
              <a:cs typeface="Times New Roman" panose="02020603050405020304" pitchFamily="18" charset="0"/>
              <a:sym typeface="Arial Narrow" panose="020B06060202020302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Date: 05-05-2026</a:t>
            </a:r>
            <a:endParaRPr dirty="0">
              <a:latin typeface="Arial Narrow" panose="020B0606020202030204" pitchFamily="34" charset="0"/>
              <a:cs typeface="Times New Roman" panose="02020603050405020304" pitchFamily="18" charset="0"/>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Session: FN</a:t>
            </a:r>
            <a:endParaRPr b="1" dirty="0">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
        <p:nvSpPr>
          <p:cNvPr id="89"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Times New Roman" panose="02020603050405020304"/>
                <a:ea typeface="Times New Roman" panose="02020603050405020304"/>
                <a:cs typeface="Times New Roman" panose="02020603050405020304"/>
                <a:sym typeface="Times New Roman" panose="02020603050405020304"/>
              </a:rPr>
              <a:t>1</a:t>
            </a:fld>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0" name="Google Shape;90;p1"/>
          <p:cNvPicPr preferRelativeResize="0"/>
          <p:nvPr/>
        </p:nvPicPr>
        <p:blipFill rotWithShape="1">
          <a:blip r:embed="rId3"/>
          <a:srcRect l="16357" r="14907" b="8148"/>
          <a:stretch>
            <a:fillRect/>
          </a:stretch>
        </p:blipFill>
        <p:spPr>
          <a:xfrm>
            <a:off x="11215585" y="65332"/>
            <a:ext cx="903515" cy="511635"/>
          </a:xfrm>
          <a:prstGeom prst="rect">
            <a:avLst/>
          </a:prstGeom>
          <a:noFill/>
          <a:ln>
            <a:noFill/>
          </a:ln>
        </p:spPr>
      </p:pic>
      <p:pic>
        <p:nvPicPr>
          <p:cNvPr id="91" name="Google Shape;91;p1"/>
          <p:cNvPicPr preferRelativeResize="0"/>
          <p:nvPr/>
        </p:nvPicPr>
        <p:blipFill rotWithShape="1">
          <a:blip r:embed="rId4"/>
          <a:srcRect/>
          <a:stretch>
            <a:fillRect/>
          </a:stretch>
        </p:blipFill>
        <p:spPr>
          <a:xfrm>
            <a:off x="104932" y="0"/>
            <a:ext cx="5348811" cy="18735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body" idx="1"/>
          </p:nvPr>
        </p:nvSpPr>
        <p:spPr>
          <a:xfrm>
            <a:off x="-1" y="145233"/>
            <a:ext cx="12115801" cy="2402023"/>
          </a:xfrm>
          <a:prstGeom prst="rect">
            <a:avLst/>
          </a:prstGeom>
          <a:noFill/>
          <a:ln>
            <a:noFill/>
          </a:ln>
        </p:spPr>
        <p:txBody>
          <a:bodyPr spcFirstLastPara="1" wrap="square" lIns="91425" tIns="45700" rIns="91425" bIns="45700" anchor="t" anchorCtr="0">
            <a:noAutofit/>
          </a:bodyPr>
          <a:lstStyle/>
          <a:p>
            <a:pPr marL="0" lvl="0" indent="0" algn="ctr" rtl="0">
              <a:lnSpc>
                <a:spcPct val="170000"/>
              </a:lnSpc>
              <a:spcBef>
                <a:spcPts val="1000"/>
              </a:spcBef>
              <a:spcAft>
                <a:spcPts val="0"/>
              </a:spcAft>
              <a:buClr>
                <a:schemeClr val="dk1"/>
              </a:buClr>
              <a:buSzPts val="3600"/>
              <a:buNone/>
            </a:pPr>
            <a:r>
              <a:rPr lang="en-US"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WIFI INTRUSION  DETECTION SYSTEM</a:t>
            </a:r>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ea typeface="Times New Roman" panose="02020603050405020304"/>
                <a:cs typeface="Times New Roman" panose="02020603050405020304" pitchFamily="18" charset="0"/>
                <a:sym typeface="Times New Roman" panose="02020603050405020304"/>
              </a:rPr>
              <a:t>2</a:t>
            </a:fld>
            <a:endParaRPr b="1">
              <a:solidFill>
                <a:schemeClr val="dk1"/>
              </a:solidFill>
              <a:latin typeface="Arial Narrow" panose="020B0606020202030204" pitchFamily="34" charset="0"/>
              <a:ea typeface="Times New Roman" panose="02020603050405020304"/>
              <a:cs typeface="Times New Roman" panose="02020603050405020304" pitchFamily="18" charset="0"/>
              <a:sym typeface="Times New Roman" panose="02020603050405020304"/>
            </a:endParaRPr>
          </a:p>
        </p:txBody>
      </p:sp>
      <p:sp>
        <p:nvSpPr>
          <p:cNvPr id="98" name="Google Shape;98;p2"/>
          <p:cNvSpPr txBox="1">
            <a:spLocks noGrp="1"/>
          </p:cNvSpPr>
          <p:nvPr>
            <p:ph type="body" idx="1"/>
          </p:nvPr>
        </p:nvSpPr>
        <p:spPr>
          <a:xfrm>
            <a:off x="495816" y="3594414"/>
            <a:ext cx="3240441"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Guide Name:</a:t>
            </a:r>
          </a:p>
          <a:p>
            <a:pPr marL="0" lvl="0" indent="0" algn="l" rtl="0">
              <a:lnSpc>
                <a:spcPct val="90000"/>
              </a:lnSpc>
              <a:spcBef>
                <a:spcPts val="1000"/>
              </a:spcBef>
              <a:spcAft>
                <a:spcPts val="0"/>
              </a:spcAft>
              <a:buClr>
                <a:schemeClr val="dk1"/>
              </a:buClr>
              <a:buSzPts val="2400"/>
              <a:buNone/>
            </a:pPr>
            <a:r>
              <a:rPr lang="en-US" sz="2400" b="1" dirty="0" err="1">
                <a:latin typeface="Arial Narrow" panose="020B0606020202030204" pitchFamily="34" charset="0"/>
                <a:ea typeface="Arial Narrow" panose="020B0606020202030204"/>
                <a:cs typeface="Times New Roman" panose="02020603050405020304" pitchFamily="18" charset="0"/>
                <a:sym typeface="Arial Narrow" panose="020B0606020202030204"/>
              </a:rPr>
              <a:t>Mrs.M.Suriya,M.E</a:t>
            </a: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a:t>
            </a:r>
          </a:p>
          <a:p>
            <a:pPr marL="0" lvl="0" indent="0" algn="l" rtl="0">
              <a:lnSpc>
                <a:spcPct val="90000"/>
              </a:lnSpc>
              <a:spcBef>
                <a:spcPts val="1000"/>
              </a:spcBef>
              <a:spcAft>
                <a:spcPts val="0"/>
              </a:spcAft>
              <a:buClr>
                <a:schemeClr val="dk1"/>
              </a:buClr>
              <a:buSzPts val="2400"/>
              <a:buNone/>
            </a:pPr>
            <a:r>
              <a:rPr lang="en-US" b="1" dirty="0">
                <a:latin typeface="Arial Narrow" panose="020B0606020202030204" pitchFamily="34" charset="0"/>
                <a:ea typeface="Arial Narrow" panose="020B0606020202030204"/>
                <a:cs typeface="Times New Roman" panose="02020603050405020304" pitchFamily="18" charset="0"/>
                <a:sym typeface="Arial Narrow" panose="020B0606020202030204"/>
              </a:rPr>
              <a:t>Assistant Professor</a:t>
            </a:r>
          </a:p>
          <a:p>
            <a:pPr marL="0" lvl="0" indent="0" algn="l" rtl="0">
              <a:lnSpc>
                <a:spcPct val="90000"/>
              </a:lnSpc>
              <a:spcBef>
                <a:spcPts val="1000"/>
              </a:spcBef>
              <a:spcAft>
                <a:spcPts val="0"/>
              </a:spcAft>
              <a:buClr>
                <a:schemeClr val="dk1"/>
              </a:buClr>
              <a:buSzPts val="2400"/>
              <a:buNone/>
            </a:pPr>
            <a:r>
              <a:rPr lang="en-US" b="1" dirty="0">
                <a:latin typeface="Arial Narrow" panose="020B0606020202030204" pitchFamily="34" charset="0"/>
                <a:ea typeface="Arial Narrow" panose="020B0606020202030204"/>
                <a:cs typeface="Times New Roman" panose="02020603050405020304" pitchFamily="18" charset="0"/>
                <a:sym typeface="Arial Narrow" panose="020B0606020202030204"/>
              </a:rPr>
              <a:t>Department of CSE</a:t>
            </a:r>
          </a:p>
        </p:txBody>
      </p:sp>
      <p:sp>
        <p:nvSpPr>
          <p:cNvPr id="99" name="Google Shape;99;p2"/>
          <p:cNvSpPr txBox="1">
            <a:spLocks noGrp="1"/>
          </p:cNvSpPr>
          <p:nvPr>
            <p:ph type="body" idx="1"/>
          </p:nvPr>
        </p:nvSpPr>
        <p:spPr>
          <a:xfrm>
            <a:off x="6833419" y="3631450"/>
            <a:ext cx="5165914"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Team Members:</a:t>
            </a:r>
          </a:p>
          <a:p>
            <a:pPr marL="0" lvl="0" indent="0" algn="l" rtl="0">
              <a:lnSpc>
                <a:spcPct val="90000"/>
              </a:lnSpc>
              <a:spcBef>
                <a:spcPts val="1000"/>
              </a:spcBef>
              <a:spcAft>
                <a:spcPts val="0"/>
              </a:spcAft>
              <a:buClr>
                <a:schemeClr val="dk1"/>
              </a:buClr>
              <a:buSzPts val="2400"/>
              <a:buNone/>
            </a:pPr>
            <a:r>
              <a:rPr lang="en-US" sz="2400" b="1" dirty="0" err="1">
                <a:latin typeface="Arial Narrow" panose="020B0606020202030204" pitchFamily="34" charset="0"/>
                <a:ea typeface="Arial Narrow" panose="020B0606020202030204"/>
                <a:cs typeface="Times New Roman" panose="02020603050405020304" pitchFamily="18" charset="0"/>
                <a:sym typeface="Arial Narrow" panose="020B0606020202030204"/>
              </a:rPr>
              <a:t>Rajev</a:t>
            </a: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 </a:t>
            </a:r>
            <a:r>
              <a:rPr lang="en-US" sz="2400" b="1" dirty="0" err="1">
                <a:latin typeface="Arial Narrow" panose="020B0606020202030204" pitchFamily="34" charset="0"/>
                <a:ea typeface="Arial Narrow" panose="020B0606020202030204"/>
                <a:cs typeface="Times New Roman" panose="02020603050405020304" pitchFamily="18" charset="0"/>
                <a:sym typeface="Arial Narrow" panose="020B0606020202030204"/>
              </a:rPr>
              <a:t>shree</a:t>
            </a: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 U(2303811710422130)</a:t>
            </a:r>
          </a:p>
          <a:p>
            <a:pPr marL="0" lvl="0" indent="0" algn="l" rtl="0">
              <a:lnSpc>
                <a:spcPct val="90000"/>
              </a:lnSpc>
              <a:spcBef>
                <a:spcPts val="1000"/>
              </a:spcBef>
              <a:spcAft>
                <a:spcPts val="0"/>
              </a:spcAft>
              <a:buClr>
                <a:schemeClr val="dk1"/>
              </a:buClr>
              <a:buSzPts val="2400"/>
              <a:buNone/>
            </a:pPr>
            <a:r>
              <a:rPr lang="en-US" sz="2400" b="1" dirty="0" err="1">
                <a:latin typeface="Arial Narrow" panose="020B0606020202030204" pitchFamily="34" charset="0"/>
                <a:ea typeface="Arial Narrow" panose="020B0606020202030204"/>
                <a:cs typeface="Times New Roman" panose="02020603050405020304" pitchFamily="18" charset="0"/>
                <a:sym typeface="Arial Narrow" panose="020B0606020202030204"/>
              </a:rPr>
              <a:t>Shajathi</a:t>
            </a: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 bee M (2303811710422141)</a:t>
            </a: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Shibani S (2303811710422147)</a:t>
            </a:r>
          </a:p>
          <a:p>
            <a:pPr marL="0" lvl="0" indent="0" algn="l" rtl="0">
              <a:lnSpc>
                <a:spcPct val="90000"/>
              </a:lnSpc>
              <a:spcBef>
                <a:spcPts val="1000"/>
              </a:spcBef>
              <a:spcAft>
                <a:spcPts val="0"/>
              </a:spcAft>
              <a:buClr>
                <a:schemeClr val="dk1"/>
              </a:buClr>
              <a:buSzPts val="2400"/>
              <a:buNone/>
            </a:pPr>
            <a:r>
              <a:rPr lang="en-US" sz="2400" b="1" dirty="0" err="1">
                <a:latin typeface="Arial Narrow" panose="020B0606020202030204" pitchFamily="34" charset="0"/>
                <a:ea typeface="Arial Narrow" panose="020B0606020202030204"/>
                <a:cs typeface="Times New Roman" panose="02020603050405020304" pitchFamily="18" charset="0"/>
                <a:sym typeface="Arial Narrow" panose="020B0606020202030204"/>
              </a:rPr>
              <a:t>Sowmiyaa</a:t>
            </a:r>
            <a:r>
              <a:rPr lang="en-US" sz="2400" b="1" dirty="0">
                <a:latin typeface="Arial Narrow" panose="020B0606020202030204" pitchFamily="34" charset="0"/>
                <a:ea typeface="Arial Narrow" panose="020B0606020202030204"/>
                <a:cs typeface="Times New Roman" panose="02020603050405020304" pitchFamily="18" charset="0"/>
                <a:sym typeface="Arial Narrow" panose="020B0606020202030204"/>
              </a:rPr>
              <a:t> VS (2303811710422154)</a:t>
            </a:r>
            <a:endParaRPr b="1" dirty="0">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140549"/>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sz="4000"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OBJECTIVE OF THE PROJECT</a:t>
            </a:r>
            <a:endParaRPr sz="4000"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3</a:t>
            </a:fld>
            <a:endParaRPr b="1">
              <a:solidFill>
                <a:schemeClr val="dk1"/>
              </a:solidFill>
              <a:latin typeface="Arial Narrow" panose="020B0606020202030204" pitchFamily="34" charset="0"/>
            </a:endParaRPr>
          </a:p>
        </p:txBody>
      </p:sp>
      <p:sp>
        <p:nvSpPr>
          <p:cNvPr id="4" name="Text Placeholder 3">
            <a:extLst>
              <a:ext uri="{FF2B5EF4-FFF2-40B4-BE49-F238E27FC236}">
                <a16:creationId xmlns:a16="http://schemas.microsoft.com/office/drawing/2014/main" id="{DC0DEB47-B599-F203-D5D4-0537C80685BB}"/>
              </a:ext>
            </a:extLst>
          </p:cNvPr>
          <p:cNvSpPr>
            <a:spLocks noGrp="1"/>
          </p:cNvSpPr>
          <p:nvPr>
            <p:ph type="body" idx="1"/>
          </p:nvPr>
        </p:nvSpPr>
        <p:spPr>
          <a:xfrm>
            <a:off x="1032650" y="1547530"/>
            <a:ext cx="10515600" cy="4351338"/>
          </a:xfrm>
        </p:spPr>
        <p:txBody>
          <a:bodyPr/>
          <a:lstStyle/>
          <a:p>
            <a:pPr marL="628650" indent="-514350">
              <a:buFont typeface="+mj-lt"/>
              <a:buAutoNum type="arabicPeriod"/>
            </a:pPr>
            <a:r>
              <a:rPr lang="en-US" dirty="0"/>
              <a:t>To develop a system that scans and displays all nearby Wi-Fi networks in real time.
To detect fake or duplicate networks (rogue access points) using SSID analysis.
To classify networks into SAFE, MEDIUM, and HIGH risk categories.
To implement secure user authentication using login and OTP verification.
To design an interactive web dashboard for monitoring and alerting users about potential threats.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0" y="206477"/>
            <a:ext cx="12192000" cy="81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sz="4000"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INTRODUCTION</a:t>
            </a:r>
            <a:endParaRPr sz="4000"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
        <p:nvSpPr>
          <p:cNvPr id="113"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4</a:t>
            </a:fld>
            <a:endParaRPr b="1">
              <a:solidFill>
                <a:schemeClr val="dk1"/>
              </a:solidFill>
              <a:latin typeface="Arial Narrow" panose="020B0606020202030204" pitchFamily="34" charset="0"/>
            </a:endParaRPr>
          </a:p>
        </p:txBody>
      </p:sp>
      <p:sp>
        <p:nvSpPr>
          <p:cNvPr id="4" name="Text Placeholder 3">
            <a:extLst>
              <a:ext uri="{FF2B5EF4-FFF2-40B4-BE49-F238E27FC236}">
                <a16:creationId xmlns:a16="http://schemas.microsoft.com/office/drawing/2014/main" id="{67F6598A-A4EB-AC6B-569A-B89B9DC1037C}"/>
              </a:ext>
            </a:extLst>
          </p:cNvPr>
          <p:cNvSpPr>
            <a:spLocks noGrp="1"/>
          </p:cNvSpPr>
          <p:nvPr>
            <p:ph type="body" idx="1"/>
          </p:nvPr>
        </p:nvSpPr>
        <p:spPr/>
        <p:txBody>
          <a:bodyPr>
            <a:normAutofit fontScale="92500" lnSpcReduction="20000"/>
          </a:bodyPr>
          <a:lstStyle/>
          <a:p>
            <a:r>
              <a:rPr lang="en-US" dirty="0"/>
              <a:t>Wireless networks (Wi-Fi) are widely used for communication, but they are highly vulnerable to security threats such as unauthorized access and fake access points.
Attackers can create rogue or duplicate Wi-Fi networks (evil twin attacks) to steal sensitive information from users.
Traditional security mechanisms like passwords alone are not sufficient to detect such network-level threats.
A real-time monitoring system is required to continuously scan and analyze nearby Wi-Fi networks.
This project introduces a Wi-Fi Intrusion Detection System that identifies suspicious networks and provides a user-friendly dashboard for security awareness.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endParaRPr sz="1200" b="0" i="0" u="none" strike="noStrike" cap="none">
              <a:solidFill>
                <a:srgbClr val="888888"/>
              </a:solidFill>
              <a:latin typeface="Arial Narrow" panose="020B0606020202030204" pitchFamily="34" charset="0"/>
              <a:ea typeface="Calibri" panose="020F0502020204030204"/>
              <a:cs typeface="Calibri" panose="020F0502020204030204"/>
              <a:sym typeface="Calibri" panose="020F0502020204030204"/>
            </a:endParaRPr>
          </a:p>
        </p:txBody>
      </p:sp>
      <p:sp>
        <p:nvSpPr>
          <p:cNvPr id="119" name="Google Shape;119;p5"/>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5</a:t>
            </a:fld>
            <a:endParaRPr b="1">
              <a:solidFill>
                <a:schemeClr val="dk1"/>
              </a:solidFill>
              <a:latin typeface="Arial Narrow" panose="020B0606020202030204" pitchFamily="34" charset="0"/>
            </a:endParaRPr>
          </a:p>
        </p:txBody>
      </p:sp>
      <p:sp>
        <p:nvSpPr>
          <p:cNvPr id="120" name="Google Shape;120;p5"/>
          <p:cNvSpPr/>
          <p:nvPr/>
        </p:nvSpPr>
        <p:spPr>
          <a:xfrm>
            <a:off x="68855" y="0"/>
            <a:ext cx="1205430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panose="020B0604020202020204"/>
              <a:buNone/>
            </a:pPr>
            <a:r>
              <a:rPr lang="en-US" sz="3200" b="1" i="0" u="none" strike="noStrike" cap="none"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LITERATURE SURVEY</a:t>
            </a:r>
            <a:endParaRPr sz="3200" b="0" i="0" u="none" strike="noStrike" cap="none"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graphicFrame>
        <p:nvGraphicFramePr>
          <p:cNvPr id="121" name="Google Shape;121;p5"/>
          <p:cNvGraphicFramePr/>
          <p:nvPr>
            <p:extLst>
              <p:ext uri="{D42A27DB-BD31-4B8C-83A1-F6EECF244321}">
                <p14:modId xmlns:p14="http://schemas.microsoft.com/office/powerpoint/2010/main" val="1192647140"/>
              </p:ext>
            </p:extLst>
          </p:nvPr>
        </p:nvGraphicFramePr>
        <p:xfrm>
          <a:off x="103262" y="584735"/>
          <a:ext cx="11985475" cy="6207066"/>
        </p:xfrm>
        <a:graphic>
          <a:graphicData uri="http://schemas.openxmlformats.org/drawingml/2006/table">
            <a:tbl>
              <a:tblPr firstRow="1" bandRow="1">
                <a:noFill/>
                <a:tableStyleId>{0A282954-5174-4F31-A0F9-3197DDE5C557}</a:tableStyleId>
              </a:tblPr>
              <a:tblGrid>
                <a:gridCol w="2975900">
                  <a:extLst>
                    <a:ext uri="{9D8B030D-6E8A-4147-A177-3AD203B41FA5}">
                      <a16:colId xmlns:a16="http://schemas.microsoft.com/office/drawing/2014/main" val="20000"/>
                    </a:ext>
                  </a:extLst>
                </a:gridCol>
                <a:gridCol w="2975900">
                  <a:extLst>
                    <a:ext uri="{9D8B030D-6E8A-4147-A177-3AD203B41FA5}">
                      <a16:colId xmlns:a16="http://schemas.microsoft.com/office/drawing/2014/main" val="20001"/>
                    </a:ext>
                  </a:extLst>
                </a:gridCol>
                <a:gridCol w="2833292">
                  <a:extLst>
                    <a:ext uri="{9D8B030D-6E8A-4147-A177-3AD203B41FA5}">
                      <a16:colId xmlns:a16="http://schemas.microsoft.com/office/drawing/2014/main" val="20002"/>
                    </a:ext>
                  </a:extLst>
                </a:gridCol>
                <a:gridCol w="3200383">
                  <a:extLst>
                    <a:ext uri="{9D8B030D-6E8A-4147-A177-3AD203B41FA5}">
                      <a16:colId xmlns:a16="http://schemas.microsoft.com/office/drawing/2014/main" val="20003"/>
                    </a:ext>
                  </a:extLst>
                </a:gridCol>
              </a:tblGrid>
              <a:tr h="629176">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TITLE OF PAPER</a:t>
                      </a: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AUTHORS</a:t>
                      </a: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PAPER GIST </a:t>
                      </a: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TECHNOLOGY USED</a:t>
                      </a:r>
                    </a:p>
                  </a:txBody>
                  <a:tcPr marL="91450" marR="91450" marT="45725" marB="45725"/>
                </a:tc>
                <a:extLst>
                  <a:ext uri="{0D108BD9-81ED-4DB2-BD59-A6C34878D82A}">
                    <a16:rowId xmlns:a16="http://schemas.microsoft.com/office/drawing/2014/main" val="10000"/>
                  </a:ext>
                </a:extLst>
              </a:tr>
              <a:tr h="697000">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r>
                        <a:rPr lang="en-US"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rPr>
                        <a:t>A Survey of Intrusion Detection Systems in Wireless Networks</a:t>
                      </a: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rPr>
                        <a:t>W LEE</a:t>
                      </a:r>
                      <a:endParaRPr lang="en-IN"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This paper provides a comprehensive survey of intrusion detection systems (IDS) specifically designed for wireless networks.</a:t>
                      </a:r>
                    </a:p>
                  </a:txBody>
                  <a:tcPr marL="91450" marR="91450" marT="45725" marB="45725"/>
                </a:tc>
                <a:tc>
                  <a:txBody>
                    <a:bodyPr/>
                    <a:lstStyle/>
                    <a:p>
                      <a:r>
                        <a:rPr lang="en-US" sz="1600" dirty="0">
                          <a:latin typeface="Arial Narrow" panose="020B0606020202030204" pitchFamily="34" charset="0"/>
                          <a:cs typeface="Times New Roman" panose="02020603050405020304" pitchFamily="18" charset="0"/>
                        </a:rPr>
                        <a:t>Intrusion Detection Systems (IDS)
Wireless Network Protocols</a:t>
                      </a:r>
                    </a:p>
                  </a:txBody>
                  <a:tcPr marL="91450" marR="91450" marT="45725" marB="45725"/>
                </a:tc>
                <a:extLst>
                  <a:ext uri="{0D108BD9-81ED-4DB2-BD59-A6C34878D82A}">
                    <a16:rowId xmlns:a16="http://schemas.microsoft.com/office/drawing/2014/main" val="10001"/>
                  </a:ext>
                </a:extLst>
              </a:tr>
              <a:tr h="697000">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Detecting Rogue Access Points Using Signal Strength and Network Monitoring</a:t>
                      </a:r>
                    </a:p>
                    <a:p>
                      <a:pPr marL="0" marR="0" lvl="0" indent="0" algn="ctr" rtl="0">
                        <a:lnSpc>
                          <a:spcPct val="100000"/>
                        </a:lnSpc>
                        <a:spcBef>
                          <a:spcPts val="0"/>
                        </a:spcBef>
                        <a:spcAft>
                          <a:spcPts val="0"/>
                        </a:spcAft>
                        <a:buClr>
                          <a:srgbClr val="000000"/>
                        </a:buClr>
                        <a:buSzPts val="2400"/>
                        <a:buFont typeface="Arial" panose="020B0604020202020204"/>
                        <a:buNone/>
                      </a:pPr>
                      <a:endPar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hlinkClick r:id="rId3"/>
                        </a:rPr>
                        <a:t>J.WRIGHT</a:t>
                      </a:r>
                      <a:endParaRPr lang="en-IN"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hlinkClick r:id="rId3"/>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This paper explains methods to detect rogue access points (fake Wi-Fi networks) using signal strength and network behavior analysis.</a:t>
                      </a:r>
                    </a:p>
                  </a:txBody>
                  <a:tcPr marL="91450" marR="91450" marT="45725" marB="45725"/>
                </a:tc>
                <a:tc>
                  <a:txBody>
                    <a:bodyPr/>
                    <a:lstStyle/>
                    <a:p>
                      <a:r>
                        <a:rPr lang="en-US" sz="1600" dirty="0">
                          <a:latin typeface="Arial Narrow" panose="020B0606020202030204" pitchFamily="34" charset="0"/>
                          <a:cs typeface="Times New Roman" panose="02020603050405020304" pitchFamily="18" charset="0"/>
                        </a:rPr>
                        <a:t>Signal Strength Analysis
Wireless Packet Monitoring</a:t>
                      </a:r>
                    </a:p>
                  </a:txBody>
                  <a:tcPr marL="91450" marR="91450" marT="45725" marB="45725"/>
                </a:tc>
                <a:extLst>
                  <a:ext uri="{0D108BD9-81ED-4DB2-BD59-A6C34878D82A}">
                    <a16:rowId xmlns:a16="http://schemas.microsoft.com/office/drawing/2014/main" val="10002"/>
                  </a:ext>
                </a:extLst>
              </a:tr>
              <a:tr h="697000">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Anomaly-Based Intrusion Detection in Wireless Networks</a:t>
                      </a:r>
                    </a:p>
                    <a:p>
                      <a:pPr marL="0" marR="0" lvl="0" indent="0" algn="ctr" rtl="0">
                        <a:lnSpc>
                          <a:spcPct val="100000"/>
                        </a:lnSpc>
                        <a:spcBef>
                          <a:spcPts val="0"/>
                        </a:spcBef>
                        <a:spcAft>
                          <a:spcPts val="0"/>
                        </a:spcAft>
                        <a:buClr>
                          <a:srgbClr val="000000"/>
                        </a:buClr>
                        <a:buSzPts val="2400"/>
                        <a:buFont typeface="Arial" panose="020B0604020202020204"/>
                        <a:buNone/>
                      </a:pPr>
                      <a:endPar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rPr>
                        <a:t>G.VIGNA</a:t>
                      </a:r>
                      <a:endParaRPr lang="en-IN"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dirty="0">
                          <a:latin typeface="Arial Narrow" panose="020B0606020202030204" pitchFamily="34" charset="0"/>
                          <a:cs typeface="Times New Roman" panose="02020603050405020304" pitchFamily="18" charset="0"/>
                        </a:rPr>
                        <a:t>This paper proposes an anomaly-based approach for detecting intrusions in wireless networks.</a:t>
                      </a:r>
                      <a:endParaRPr lang="en-IN"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txBody>
                  <a:tcPr marL="91450" marR="91450" marT="45725" marB="45725"/>
                </a:tc>
                <a:tc>
                  <a:txBody>
                    <a:bodyPr/>
                    <a:lstStyle/>
                    <a:p>
                      <a:r>
                        <a:rPr lang="en-US" sz="1600" dirty="0">
                          <a:latin typeface="Arial Narrow" panose="020B0606020202030204" pitchFamily="34" charset="0"/>
                          <a:cs typeface="Times New Roman" panose="02020603050405020304" pitchFamily="18" charset="0"/>
                        </a:rPr>
                        <a:t>Anomaly Detection
Statistical Modeling</a:t>
                      </a:r>
                    </a:p>
                  </a:txBody>
                  <a:tcPr marL="91450" marR="91450" marT="45725" marB="45725"/>
                </a:tc>
                <a:extLst>
                  <a:ext uri="{0D108BD9-81ED-4DB2-BD59-A6C34878D82A}">
                    <a16:rowId xmlns:a16="http://schemas.microsoft.com/office/drawing/2014/main" val="10003"/>
                  </a:ext>
                </a:extLst>
              </a:tr>
              <a:tr h="697000">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endPar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Wireless Network Security: Threats and Countermeasures</a:t>
                      </a: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rPr>
                        <a:t>A.MISHRA</a:t>
                      </a:r>
                      <a:endParaRPr lang="en-IN"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This paper discusses various security threats in wireless networks, including eavesdropping, spoofing, and rogue access points.</a:t>
                      </a:r>
                      <a:endParaRPr lang="en-IN"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txBody>
                  <a:tcPr marL="91450" marR="91450" marT="45725" marB="45725"/>
                </a:tc>
                <a:tc>
                  <a:txBody>
                    <a:bodyPr/>
                    <a:lstStyle/>
                    <a:p>
                      <a:r>
                        <a:rPr lang="en-US" sz="1600" dirty="0">
                          <a:latin typeface="Arial Narrow" panose="020B0606020202030204" pitchFamily="34" charset="0"/>
                          <a:cs typeface="Times New Roman" panose="02020603050405020304" pitchFamily="18" charset="0"/>
                        </a:rPr>
                        <a:t>Encryption Protocols (WEP, WPA, WPA2)
Authentication Mechanisms</a:t>
                      </a:r>
                    </a:p>
                  </a:txBody>
                  <a:tcPr marL="91450" marR="91450" marT="45725" marB="45725"/>
                </a:tc>
                <a:extLst>
                  <a:ext uri="{0D108BD9-81ED-4DB2-BD59-A6C34878D82A}">
                    <a16:rowId xmlns:a16="http://schemas.microsoft.com/office/drawing/2014/main" val="10004"/>
                  </a:ext>
                </a:extLst>
              </a:tr>
              <a:tr h="558315">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endPar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p>
                      <a:pPr marL="0" marR="0" lvl="0" indent="0" algn="ctr" rtl="0">
                        <a:lnSpc>
                          <a:spcPct val="100000"/>
                        </a:lnSpc>
                        <a:spcBef>
                          <a:spcPts val="0"/>
                        </a:spcBef>
                        <a:spcAft>
                          <a:spcPts val="0"/>
                        </a:spcAft>
                        <a:buClr>
                          <a:srgbClr val="000000"/>
                        </a:buClr>
                        <a:buSzPts val="2400"/>
                        <a:buFont typeface="Arial" panose="020B0604020202020204"/>
                        <a:buNone/>
                      </a:pPr>
                      <a:r>
                        <a:rPr lang="en-US"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Design and Implementation of a Real-Time Network Monitoring System</a:t>
                      </a: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rPr>
                        <a:t>M.ROESCH</a:t>
                      </a:r>
                      <a:endParaRPr lang="en-IN" sz="1600" b="0" i="0" u="none" strike="noStrike" cap="none" dirty="0">
                        <a:solidFill>
                          <a:schemeClr val="dk1"/>
                        </a:solidFill>
                        <a:effectLst/>
                        <a:latin typeface="Arial Narrow" panose="020B0606020202030204" pitchFamily="34" charset="0"/>
                        <a:ea typeface="Calibri" panose="020F0502020204030204"/>
                        <a:cs typeface="Times New Roman" panose="02020603050405020304" pitchFamily="18" charset="0"/>
                        <a:sym typeface="Arial" panose="020B0604020202020204"/>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1600" dirty="0">
                          <a:latin typeface="Arial Narrow" panose="020B0606020202030204" pitchFamily="34" charset="0"/>
                          <a:cs typeface="Times New Roman" panose="02020603050405020304" pitchFamily="18" charset="0"/>
                        </a:rPr>
                        <a:t>This paper presents the design of a real-time network monitoring system capable of detecting suspicious activities and generating alerts</a:t>
                      </a:r>
                      <a:endParaRPr lang="en-IN" sz="1600" u="none" strike="noStrike" cap="none" dirty="0">
                        <a:solidFill>
                          <a:schemeClr val="dk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a:txBody>
                  <a:tcPr marL="91450" marR="91450" marT="45725" marB="45725"/>
                </a:tc>
                <a:tc>
                  <a:txBody>
                    <a:bodyPr/>
                    <a:lstStyle/>
                    <a:p>
                      <a:r>
                        <a:rPr lang="en-US" sz="1600" dirty="0">
                          <a:latin typeface="Arial Narrow" panose="020B0606020202030204" pitchFamily="34" charset="0"/>
                          <a:cs typeface="Times New Roman" panose="02020603050405020304" pitchFamily="18" charset="0"/>
                        </a:rPr>
                        <a:t>Network Monitoring Systems
Intrusion Detection Tools (Snort)</a:t>
                      </a:r>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6</a:t>
            </a:fld>
            <a:endParaRPr b="1">
              <a:solidFill>
                <a:schemeClr val="dk1"/>
              </a:solidFill>
            </a:endParaRPr>
          </a:p>
        </p:txBody>
      </p:sp>
      <p:sp>
        <p:nvSpPr>
          <p:cNvPr id="127" name="Google Shape;127;p6"/>
          <p:cNvSpPr txBox="1"/>
          <p:nvPr/>
        </p:nvSpPr>
        <p:spPr>
          <a:xfrm>
            <a:off x="-2" y="203822"/>
            <a:ext cx="123456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panose="020B0604020202020204"/>
              <a:buNone/>
            </a:pPr>
            <a:r>
              <a:rPr lang="en-US" sz="3600" b="1" i="0" u="none" strike="noStrike" cap="none"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EXISTING SYSTEM</a:t>
            </a:r>
            <a:endParaRPr sz="3600" b="1" i="0" u="none" strike="noStrike" cap="none"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
        <p:nvSpPr>
          <p:cNvPr id="15" name="AutoShape 8" descr="Crime Scene ForensiKit: Evidence Packaging : Amazon.in: Office Products"/>
          <p:cNvSpPr>
            <a:spLocks noChangeAspect="1" noChangeArrowheads="1"/>
          </p:cNvSpPr>
          <p:nvPr/>
        </p:nvSpPr>
        <p:spPr bwMode="auto">
          <a:xfrm>
            <a:off x="9023154" y="-681932"/>
            <a:ext cx="106863" cy="703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5" name="Image 10">
            <a:extLst>
              <a:ext uri="{FF2B5EF4-FFF2-40B4-BE49-F238E27FC236}">
                <a16:creationId xmlns:a16="http://schemas.microsoft.com/office/drawing/2014/main" id="{4587AC6C-CB28-3A23-15D8-59025CC5A7DD}"/>
              </a:ext>
            </a:extLst>
          </p:cNvPr>
          <p:cNvPicPr>
            <a:picLocks/>
          </p:cNvPicPr>
          <p:nvPr/>
        </p:nvPicPr>
        <p:blipFill>
          <a:blip r:embed="rId3" cstate="print"/>
          <a:stretch>
            <a:fillRect/>
          </a:stretch>
        </p:blipFill>
        <p:spPr>
          <a:xfrm>
            <a:off x="1203158" y="1178852"/>
            <a:ext cx="10150641" cy="51774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b="1" smtClean="0">
                <a:solidFill>
                  <a:schemeClr val="tx1"/>
                </a:solidFill>
                <a:latin typeface="Arial Narrow" panose="020B0606020202030204" pitchFamily="34" charset="0"/>
              </a:rPr>
              <a:t>7</a:t>
            </a:fld>
            <a:endParaRPr lang="en-US" b="1" dirty="0">
              <a:solidFill>
                <a:schemeClr val="tx1"/>
              </a:solidFill>
              <a:latin typeface="Arial Narrow" panose="020B0606020202030204" pitchFamily="34" charset="0"/>
            </a:endParaRPr>
          </a:p>
        </p:txBody>
      </p:sp>
      <p:sp>
        <p:nvSpPr>
          <p:cNvPr id="3" name="Google Shape;127;p6"/>
          <p:cNvSpPr txBox="1"/>
          <p:nvPr/>
        </p:nvSpPr>
        <p:spPr>
          <a:xfrm>
            <a:off x="-1" y="248920"/>
            <a:ext cx="11745687"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panose="020B0606020202030204"/>
                <a:ea typeface="Arial Narrow" panose="020B0606020202030204"/>
                <a:cs typeface="Arial Narrow" panose="020B0606020202030204"/>
              </a:defRPr>
            </a:lvl1pPr>
          </a:lstStyle>
          <a:p>
            <a:r>
              <a:rPr lang="en-US" dirty="0">
                <a:solidFill>
                  <a:schemeClr val="tx1"/>
                </a:solidFill>
                <a:latin typeface="Arial Narrow" panose="020B0606020202030204" pitchFamily="34" charset="0"/>
                <a:cs typeface="Times New Roman" panose="02020603050405020304" pitchFamily="18" charset="0"/>
                <a:sym typeface="Arial Narrow" panose="020B0606020202030204"/>
              </a:rPr>
              <a:t>PROBLEM IDENTIFICAITON</a:t>
            </a:r>
            <a:endParaRPr dirty="0">
              <a:solidFill>
                <a:schemeClr val="tx1"/>
              </a:solidFill>
              <a:latin typeface="Arial Narrow" panose="020B0606020202030204" pitchFamily="34" charset="0"/>
              <a:cs typeface="Times New Roman" panose="02020603050405020304" pitchFamily="18" charset="0"/>
              <a:sym typeface="Arial Narrow" panose="020B0606020202030204"/>
            </a:endParaRPr>
          </a:p>
        </p:txBody>
      </p:sp>
      <p:sp>
        <p:nvSpPr>
          <p:cNvPr id="6" name="TextBox 5">
            <a:extLst>
              <a:ext uri="{FF2B5EF4-FFF2-40B4-BE49-F238E27FC236}">
                <a16:creationId xmlns:a16="http://schemas.microsoft.com/office/drawing/2014/main" id="{BD385A17-C5A8-C65C-BD59-FCC74FB2C995}"/>
              </a:ext>
            </a:extLst>
          </p:cNvPr>
          <p:cNvSpPr txBox="1"/>
          <p:nvPr/>
        </p:nvSpPr>
        <p:spPr>
          <a:xfrm>
            <a:off x="2185736" y="1638252"/>
            <a:ext cx="8107947" cy="3970318"/>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Calibri" panose="020F0502020204030204" pitchFamily="34" charset="0"/>
              </a:rPr>
              <a:t>Wi-Fi networks are vulnerable to unauthorized access and cyber attacks.</a:t>
            </a:r>
          </a:p>
          <a:p>
            <a:pPr marL="457200" indent="-457200">
              <a:buFont typeface="Arial" panose="020B0604020202020204" pitchFamily="34" charset="0"/>
              <a:buChar char="•"/>
            </a:pPr>
            <a:r>
              <a:rPr lang="en-US" sz="2800" dirty="0">
                <a:latin typeface="Calibri" panose="020F0502020204030204" pitchFamily="34" charset="0"/>
              </a:rPr>
              <a:t>Users cannot easily identify fake or rogue access </a:t>
            </a:r>
            <a:r>
              <a:rPr lang="en-US" sz="2800" dirty="0" err="1">
                <a:latin typeface="Calibri" panose="020F0502020204030204" pitchFamily="34" charset="0"/>
              </a:rPr>
              <a:t>points.Lack</a:t>
            </a:r>
            <a:r>
              <a:rPr lang="en-US" sz="2800" dirty="0">
                <a:latin typeface="Calibri" panose="020F0502020204030204" pitchFamily="34" charset="0"/>
              </a:rPr>
              <a:t> of real-time monitoring for nearby wireless networks.</a:t>
            </a:r>
          </a:p>
          <a:p>
            <a:pPr marL="457200" indent="-457200">
              <a:buFont typeface="Arial" panose="020B0604020202020204" pitchFamily="34" charset="0"/>
              <a:buChar char="•"/>
            </a:pPr>
            <a:r>
              <a:rPr lang="en-US" sz="2800" dirty="0">
                <a:latin typeface="Calibri" panose="020F0502020204030204" pitchFamily="34" charset="0"/>
              </a:rPr>
              <a:t>Existing security methods do not detect duplicate SSIDs (evil twin attacks).</a:t>
            </a:r>
          </a:p>
          <a:p>
            <a:pPr marL="457200" indent="-457200">
              <a:buFont typeface="Arial" panose="020B0604020202020204" pitchFamily="34" charset="0"/>
              <a:buChar char="•"/>
            </a:pPr>
            <a:r>
              <a:rPr lang="en-US" sz="2800" dirty="0">
                <a:latin typeface="Calibri" panose="020F0502020204030204" pitchFamily="34" charset="0"/>
              </a:rPr>
              <a:t>No simple and user-friendly system to visualize Wi-Fi security risks.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8</a:t>
            </a:fld>
            <a:endParaRPr b="1">
              <a:solidFill>
                <a:schemeClr val="dk1"/>
              </a:solidFill>
            </a:endParaRPr>
          </a:p>
        </p:txBody>
      </p:sp>
      <p:sp>
        <p:nvSpPr>
          <p:cNvPr id="133" name="Google Shape;133;p7"/>
          <p:cNvSpPr txBox="1"/>
          <p:nvPr/>
        </p:nvSpPr>
        <p:spPr>
          <a:xfrm>
            <a:off x="-1" y="69893"/>
            <a:ext cx="12192000" cy="646290"/>
          </a:xfrm>
          <a:prstGeom prst="rect">
            <a:avLst/>
          </a:prstGeom>
          <a:noFill/>
          <a:ln>
            <a:noFill/>
          </a:ln>
        </p:spPr>
        <p:txBody>
          <a:bodyPr spcFirstLastPara="1" wrap="square" lIns="91425" tIns="45700" rIns="91425" bIns="45700" anchor="t" anchorCtr="0">
            <a:spAutoFit/>
          </a:bodyPr>
          <a:lstStyle/>
          <a:p>
            <a:pPr lvl="0" algn="ctr">
              <a:buSzPts val="4000"/>
            </a:pPr>
            <a:r>
              <a:rPr lang="en-US" sz="3600" b="1" i="0" u="none" strike="noStrike" cap="none"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PROPOSED SYSTEM </a:t>
            </a:r>
            <a:r>
              <a:rPr lang="en-US" sz="3600" b="1" dirty="0">
                <a:solidFill>
                  <a:schemeClr val="tx1"/>
                </a:solidFill>
                <a:latin typeface="Arial Narrow" panose="020B0606020202030204" pitchFamily="34" charset="0"/>
                <a:cs typeface="Times New Roman" panose="02020603050405020304" pitchFamily="18" charset="0"/>
              </a:rPr>
              <a:t>ARCHITECTURE</a:t>
            </a:r>
            <a:endParaRPr sz="3600" b="1" i="0" u="none" strike="noStrike" cap="none"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pic>
        <p:nvPicPr>
          <p:cNvPr id="5" name="Image 13">
            <a:extLst>
              <a:ext uri="{FF2B5EF4-FFF2-40B4-BE49-F238E27FC236}">
                <a16:creationId xmlns:a16="http://schemas.microsoft.com/office/drawing/2014/main" id="{E1334E64-FBB2-DA60-0061-A1FD29C90E73}"/>
              </a:ext>
            </a:extLst>
          </p:cNvPr>
          <p:cNvPicPr>
            <a:picLocks/>
          </p:cNvPicPr>
          <p:nvPr/>
        </p:nvPicPr>
        <p:blipFill>
          <a:blip r:embed="rId3" cstate="print"/>
          <a:stretch>
            <a:fillRect/>
          </a:stretch>
        </p:blipFill>
        <p:spPr>
          <a:xfrm>
            <a:off x="2211866" y="1118086"/>
            <a:ext cx="7717225" cy="53838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0" y="278781"/>
            <a:ext cx="12192000" cy="823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sz="3600"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SOFTWARE AND HARDWARE REQUIREMENTS </a:t>
            </a:r>
            <a:endParaRPr sz="3600"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
        <p:nvSpPr>
          <p:cNvPr id="141" name="Google Shape;14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9</a:t>
            </a:fld>
            <a:endParaRPr b="1">
              <a:solidFill>
                <a:schemeClr val="dk1"/>
              </a:solidFill>
              <a:latin typeface="Arial Narrow" panose="020B0606020202030204" pitchFamily="34" charset="0"/>
            </a:endParaRPr>
          </a:p>
        </p:txBody>
      </p:sp>
      <p:sp>
        <p:nvSpPr>
          <p:cNvPr id="3" name="Text Placeholder 2">
            <a:extLst>
              <a:ext uri="{FF2B5EF4-FFF2-40B4-BE49-F238E27FC236}">
                <a16:creationId xmlns:a16="http://schemas.microsoft.com/office/drawing/2014/main" id="{B6290F23-7C52-2DAA-C52E-2AC13443BD63}"/>
              </a:ext>
            </a:extLst>
          </p:cNvPr>
          <p:cNvSpPr>
            <a:spLocks noGrp="1"/>
          </p:cNvSpPr>
          <p:nvPr>
            <p:ph type="body" idx="2"/>
          </p:nvPr>
        </p:nvSpPr>
        <p:spPr>
          <a:xfrm>
            <a:off x="706104" y="1700484"/>
            <a:ext cx="5157787" cy="3684588"/>
          </a:xfrm>
        </p:spPr>
        <p:txBody>
          <a:bodyPr>
            <a:normAutofit fontScale="85000" lnSpcReduction="10000"/>
          </a:bodyPr>
          <a:lstStyle/>
          <a:p>
            <a:pPr marL="114300" indent="0">
              <a:buNone/>
            </a:pPr>
            <a:r>
              <a:rPr lang="en-US" b="1" dirty="0"/>
              <a:t>HARDWARE</a:t>
            </a:r>
          </a:p>
          <a:p>
            <a:pPr marL="114300" indent="0">
              <a:buNone/>
            </a:pPr>
            <a:endParaRPr lang="en-US" dirty="0"/>
          </a:p>
          <a:p>
            <a:pPr marL="628650" indent="-514350">
              <a:buFont typeface="+mj-lt"/>
              <a:buAutoNum type="arabicPeriod"/>
            </a:pPr>
            <a:r>
              <a:rPr lang="en-US" dirty="0"/>
              <a:t>Computer/Laptop with Wi-Fi adapter
Processor (Intel i3 or higher)
Minimum 4 GB RAM
Storage (at least 20 GB free space)
Network Interface Card (Wireless support)</a:t>
            </a:r>
          </a:p>
        </p:txBody>
      </p:sp>
      <p:sp>
        <p:nvSpPr>
          <p:cNvPr id="5" name="Text Placeholder 4">
            <a:extLst>
              <a:ext uri="{FF2B5EF4-FFF2-40B4-BE49-F238E27FC236}">
                <a16:creationId xmlns:a16="http://schemas.microsoft.com/office/drawing/2014/main" id="{834ECB1D-E4B3-C470-EE7F-8C0876E163EA}"/>
              </a:ext>
            </a:extLst>
          </p:cNvPr>
          <p:cNvSpPr>
            <a:spLocks noGrp="1"/>
          </p:cNvSpPr>
          <p:nvPr>
            <p:ph type="body" idx="4"/>
          </p:nvPr>
        </p:nvSpPr>
        <p:spPr>
          <a:xfrm>
            <a:off x="6019006" y="1700484"/>
            <a:ext cx="5183188" cy="3684588"/>
          </a:xfrm>
        </p:spPr>
        <p:txBody>
          <a:bodyPr>
            <a:normAutofit fontScale="85000" lnSpcReduction="20000"/>
          </a:bodyPr>
          <a:lstStyle/>
          <a:p>
            <a:pPr marL="114300" indent="0">
              <a:buNone/>
            </a:pPr>
            <a:r>
              <a:rPr lang="en-US" b="1" dirty="0"/>
              <a:t>SOFTWARE</a:t>
            </a:r>
          </a:p>
          <a:p>
            <a:pPr marL="114300" indent="0">
              <a:buNone/>
            </a:pPr>
            <a:endParaRPr lang="en-US" b="1" dirty="0"/>
          </a:p>
          <a:p>
            <a:pPr marL="628650" indent="-514350">
              <a:buFont typeface="+mj-lt"/>
              <a:buAutoNum type="arabicPeriod"/>
            </a:pPr>
            <a:r>
              <a:rPr lang="en-US" dirty="0"/>
              <a:t>Operating System (Linux preferred / Windows with support tools)
Python (3.x version)
Flask Framework
Network tools (</a:t>
            </a:r>
            <a:r>
              <a:rPr lang="en-US" dirty="0" err="1"/>
              <a:t>nmcli</a:t>
            </a:r>
            <a:r>
              <a:rPr lang="en-US" dirty="0"/>
              <a:t> / system command utilities)
Web technologies (HTML, CSS for frontend)</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326571" y="285134"/>
            <a:ext cx="11462658" cy="618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imes New Roman" panose="02020603050405020304"/>
              <a:buNone/>
            </a:pPr>
            <a:r>
              <a:rPr lang="en-US" b="1" dirty="0">
                <a:solidFill>
                  <a:schemeClr val="tx1"/>
                </a:solidFill>
                <a:latin typeface="Arial Narrow" panose="020B0606020202030204" pitchFamily="34" charset="0"/>
                <a:ea typeface="Tahoma" panose="020B0604030504040204" pitchFamily="34" charset="0"/>
                <a:cs typeface="Times New Roman" panose="02020603050405020304" pitchFamily="18" charset="0"/>
                <a:sym typeface="Arial Narrow" panose="020B0606020202030204"/>
              </a:rPr>
              <a:t>MODULES</a:t>
            </a:r>
            <a:r>
              <a:rPr lang="en-US" b="1" dirty="0">
                <a:solidFill>
                  <a:schemeClr val="tx1"/>
                </a:solidFill>
                <a:latin typeface="Arial Narrow" panose="020B0606020202030204" pitchFamily="34" charset="0"/>
                <a:ea typeface="Arial Narrow" panose="020B0606020202030204"/>
                <a:cs typeface="Arial Narrow" panose="020B0606020202030204"/>
                <a:sym typeface="Arial Narrow" panose="020B0606020202030204"/>
              </a:rPr>
              <a:t> </a:t>
            </a:r>
            <a:endParaRPr dirty="0">
              <a:solidFill>
                <a:schemeClr val="tx1"/>
              </a:solidFill>
              <a:latin typeface="Arial Narrow" panose="020B0606020202030204" pitchFamily="34" charset="0"/>
              <a:ea typeface="Arial Narrow" panose="020B0606020202030204"/>
              <a:cs typeface="Arial Narrow" panose="020B0606020202030204"/>
              <a:sym typeface="Arial Narrow" panose="020B0606020202030204"/>
            </a:endParaRPr>
          </a:p>
        </p:txBody>
      </p:sp>
      <p:sp>
        <p:nvSpPr>
          <p:cNvPr id="148" name="Google Shape;1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10</a:t>
            </a:fld>
            <a:endParaRPr b="1">
              <a:solidFill>
                <a:schemeClr val="dk1"/>
              </a:solidFill>
              <a:latin typeface="Arial Narrow" panose="020B0606020202030204" pitchFamily="34" charset="0"/>
            </a:endParaRPr>
          </a:p>
        </p:txBody>
      </p:sp>
      <p:sp>
        <p:nvSpPr>
          <p:cNvPr id="4" name="Text Placeholder 3">
            <a:extLst>
              <a:ext uri="{FF2B5EF4-FFF2-40B4-BE49-F238E27FC236}">
                <a16:creationId xmlns:a16="http://schemas.microsoft.com/office/drawing/2014/main" id="{57D12624-5B7E-84DD-87BF-B75DAB5CBEA6}"/>
              </a:ext>
            </a:extLst>
          </p:cNvPr>
          <p:cNvSpPr>
            <a:spLocks noGrp="1"/>
          </p:cNvSpPr>
          <p:nvPr>
            <p:ph type="body" idx="1"/>
          </p:nvPr>
        </p:nvSpPr>
        <p:spPr/>
        <p:txBody>
          <a:bodyPr/>
          <a:lstStyle/>
          <a:p>
            <a:pPr marL="628650" indent="-514350">
              <a:buFont typeface="+mj-lt"/>
              <a:buAutoNum type="arabicPeriod"/>
            </a:pPr>
            <a:r>
              <a:rPr lang="en-US" dirty="0"/>
              <a:t>User Authentication Module
Wi-Fi Scanning Module
Risk Analysis &amp; Detection Module
Alert Logging Module
Web Dashboard &amp; Visualization Module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p:nvPr>
        </p:nvSpPr>
        <p:spPr>
          <a:xfrm>
            <a:off x="0" y="397837"/>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IMPLEMENTATION OF MODULE-1</a:t>
            </a:r>
            <a:endParaRPr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
        <p:nvSpPr>
          <p:cNvPr id="155"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11</a:t>
            </a:fld>
            <a:endParaRPr b="1">
              <a:solidFill>
                <a:schemeClr val="dk1"/>
              </a:solidFill>
              <a:latin typeface="Arial Narrow" panose="020B0606020202030204" pitchFamily="34" charset="0"/>
            </a:endParaRPr>
          </a:p>
        </p:txBody>
      </p:sp>
      <p:pic>
        <p:nvPicPr>
          <p:cNvPr id="7" name="Picture 6">
            <a:extLst>
              <a:ext uri="{FF2B5EF4-FFF2-40B4-BE49-F238E27FC236}">
                <a16:creationId xmlns:a16="http://schemas.microsoft.com/office/drawing/2014/main" id="{E30057A2-0CB9-8A22-DF06-733C3FDCBEBB}"/>
              </a:ext>
            </a:extLst>
          </p:cNvPr>
          <p:cNvPicPr>
            <a:picLocks noChangeAspect="1"/>
          </p:cNvPicPr>
          <p:nvPr/>
        </p:nvPicPr>
        <p:blipFill>
          <a:blip r:embed="rId3"/>
          <a:srcRect/>
          <a:stretch/>
        </p:blipFill>
        <p:spPr>
          <a:xfrm>
            <a:off x="5958349" y="1717306"/>
            <a:ext cx="5031858" cy="4251100"/>
          </a:xfrm>
          <a:prstGeom prst="rect">
            <a:avLst/>
          </a:prstGeom>
        </p:spPr>
      </p:pic>
      <p:sp>
        <p:nvSpPr>
          <p:cNvPr id="4" name="Text Placeholder 3">
            <a:extLst>
              <a:ext uri="{FF2B5EF4-FFF2-40B4-BE49-F238E27FC236}">
                <a16:creationId xmlns:a16="http://schemas.microsoft.com/office/drawing/2014/main" id="{F5BEE62D-DE23-7EE9-92A4-EB12D1C57711}"/>
              </a:ext>
            </a:extLst>
          </p:cNvPr>
          <p:cNvSpPr>
            <a:spLocks noGrp="1"/>
          </p:cNvSpPr>
          <p:nvPr>
            <p:ph type="body" idx="1"/>
          </p:nvPr>
        </p:nvSpPr>
        <p:spPr>
          <a:xfrm>
            <a:off x="424888" y="1709718"/>
            <a:ext cx="5347368" cy="3901150"/>
          </a:xfrm>
        </p:spPr>
        <p:txBody>
          <a:bodyPr/>
          <a:lstStyle/>
          <a:p>
            <a:pPr marL="628650" indent="-514350">
              <a:buFont typeface="+mj-lt"/>
              <a:buAutoNum type="arabicPeriod"/>
            </a:pPr>
            <a:r>
              <a:rPr lang="en-US" dirty="0"/>
              <a:t>Fixed login credentials validation
OTP generation using random numbers
Email-based OTP verification
Session management using Flask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12</a:t>
            </a:fld>
            <a:endParaRPr b="1">
              <a:solidFill>
                <a:schemeClr val="dk1"/>
              </a:solidFill>
              <a:latin typeface="Arial Narrow" panose="020B0606020202030204" pitchFamily="34" charset="0"/>
            </a:endParaRPr>
          </a:p>
        </p:txBody>
      </p:sp>
      <p:sp>
        <p:nvSpPr>
          <p:cNvPr id="162" name="Google Shape;162;p11"/>
          <p:cNvSpPr txBox="1">
            <a:spLocks noGrp="1"/>
          </p:cNvSpPr>
          <p:nvPr>
            <p:ph type="title"/>
          </p:nvPr>
        </p:nvSpPr>
        <p:spPr>
          <a:xfrm>
            <a:off x="0" y="397837"/>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IMPLEMENTATION OF MODULE-2</a:t>
            </a:r>
            <a:endParaRPr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pic>
        <p:nvPicPr>
          <p:cNvPr id="6" name="Picture 5">
            <a:extLst>
              <a:ext uri="{FF2B5EF4-FFF2-40B4-BE49-F238E27FC236}">
                <a16:creationId xmlns:a16="http://schemas.microsoft.com/office/drawing/2014/main" id="{0134413A-59EB-5D1F-D01F-945CDF75B988}"/>
              </a:ext>
            </a:extLst>
          </p:cNvPr>
          <p:cNvPicPr>
            <a:picLocks noChangeAspect="1"/>
          </p:cNvPicPr>
          <p:nvPr/>
        </p:nvPicPr>
        <p:blipFill>
          <a:blip r:embed="rId3"/>
          <a:srcRect/>
          <a:stretch/>
        </p:blipFill>
        <p:spPr>
          <a:xfrm>
            <a:off x="6737054" y="1353137"/>
            <a:ext cx="4817436" cy="4395285"/>
          </a:xfrm>
          <a:prstGeom prst="rect">
            <a:avLst/>
          </a:prstGeom>
        </p:spPr>
      </p:pic>
      <p:sp>
        <p:nvSpPr>
          <p:cNvPr id="3" name="Text Placeholder 2">
            <a:extLst>
              <a:ext uri="{FF2B5EF4-FFF2-40B4-BE49-F238E27FC236}">
                <a16:creationId xmlns:a16="http://schemas.microsoft.com/office/drawing/2014/main" id="{54BC5571-B296-E135-F828-6EFAB726E89A}"/>
              </a:ext>
            </a:extLst>
          </p:cNvPr>
          <p:cNvSpPr>
            <a:spLocks noGrp="1"/>
          </p:cNvSpPr>
          <p:nvPr>
            <p:ph type="body" idx="1"/>
          </p:nvPr>
        </p:nvSpPr>
        <p:spPr>
          <a:xfrm>
            <a:off x="838200" y="1640670"/>
            <a:ext cx="4873762" cy="4536293"/>
          </a:xfrm>
        </p:spPr>
        <p:txBody>
          <a:bodyPr/>
          <a:lstStyle/>
          <a:p>
            <a:pPr marL="628650" indent="-514350">
              <a:buFont typeface="+mj-lt"/>
              <a:buAutoNum type="arabicPeriod"/>
            </a:pPr>
            <a:r>
              <a:rPr lang="en-US" dirty="0"/>
              <a:t>Uses </a:t>
            </a:r>
            <a:r>
              <a:rPr lang="en-US" dirty="0" err="1"/>
              <a:t>nmcli</a:t>
            </a:r>
            <a:r>
              <a:rPr lang="en-US" dirty="0"/>
              <a:t> command to scan networks
Extracts SSID, BSSID, and signal strength
Removes duplicate entries
Timestamp for each scan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13</a:t>
            </a:fld>
            <a:endParaRPr b="1">
              <a:solidFill>
                <a:schemeClr val="dk1"/>
              </a:solidFill>
              <a:latin typeface="Arial Narrow" panose="020B0606020202030204" pitchFamily="34" charset="0"/>
            </a:endParaRPr>
          </a:p>
        </p:txBody>
      </p:sp>
      <p:sp>
        <p:nvSpPr>
          <p:cNvPr id="169" name="Google Shape;169;p12"/>
          <p:cNvSpPr txBox="1">
            <a:spLocks noGrp="1"/>
          </p:cNvSpPr>
          <p:nvPr>
            <p:ph type="title"/>
          </p:nvPr>
        </p:nvSpPr>
        <p:spPr>
          <a:xfrm>
            <a:off x="0" y="324465"/>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IMPLEMENTATION OF MODULE-3</a:t>
            </a:r>
            <a:endParaRPr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pic>
        <p:nvPicPr>
          <p:cNvPr id="4" name="Picture 3">
            <a:extLst>
              <a:ext uri="{FF2B5EF4-FFF2-40B4-BE49-F238E27FC236}">
                <a16:creationId xmlns:a16="http://schemas.microsoft.com/office/drawing/2014/main" id="{F7BEF6DD-FB3A-06DE-7F69-FA75934D2CCC}"/>
              </a:ext>
            </a:extLst>
          </p:cNvPr>
          <p:cNvPicPr>
            <a:picLocks noChangeAspect="1"/>
          </p:cNvPicPr>
          <p:nvPr/>
        </p:nvPicPr>
        <p:blipFill>
          <a:blip r:embed="rId3"/>
          <a:srcRect/>
          <a:stretch/>
        </p:blipFill>
        <p:spPr>
          <a:xfrm>
            <a:off x="6903468" y="1677129"/>
            <a:ext cx="5171768" cy="3639674"/>
          </a:xfrm>
          <a:prstGeom prst="rect">
            <a:avLst/>
          </a:prstGeom>
        </p:spPr>
      </p:pic>
      <p:sp>
        <p:nvSpPr>
          <p:cNvPr id="5" name="Text Placeholder 4">
            <a:extLst>
              <a:ext uri="{FF2B5EF4-FFF2-40B4-BE49-F238E27FC236}">
                <a16:creationId xmlns:a16="http://schemas.microsoft.com/office/drawing/2014/main" id="{7DA65AC1-A4B7-FCAE-E19D-01B5113BE52A}"/>
              </a:ext>
            </a:extLst>
          </p:cNvPr>
          <p:cNvSpPr>
            <a:spLocks noGrp="1"/>
          </p:cNvSpPr>
          <p:nvPr>
            <p:ph type="body" idx="1"/>
          </p:nvPr>
        </p:nvSpPr>
        <p:spPr>
          <a:xfrm>
            <a:off x="838200" y="1677129"/>
            <a:ext cx="5785245" cy="4499834"/>
          </a:xfrm>
        </p:spPr>
        <p:txBody>
          <a:bodyPr/>
          <a:lstStyle/>
          <a:p>
            <a:pPr marL="628650" indent="-514350">
              <a:buFont typeface="+mj-lt"/>
              <a:buAutoNum type="arabicPeriod"/>
            </a:pPr>
            <a:r>
              <a:rPr lang="en-US" dirty="0"/>
              <a:t>Detects duplicate SSIDs (possible fake/evil twin attack)
Compares networks with known Wi-Fi list
Classifies signal strength (Strong, Medium, Weak)
Generates alerts for suspicious networks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14</a:t>
            </a:fld>
            <a:endParaRPr b="1">
              <a:solidFill>
                <a:schemeClr val="dk1"/>
              </a:solidFill>
              <a:latin typeface="Arial Narrow" panose="020B0606020202030204" pitchFamily="34" charset="0"/>
            </a:endParaRPr>
          </a:p>
        </p:txBody>
      </p:sp>
      <p:sp>
        <p:nvSpPr>
          <p:cNvPr id="176" name="Google Shape;176;p13"/>
          <p:cNvSpPr txBox="1">
            <a:spLocks noGrp="1"/>
          </p:cNvSpPr>
          <p:nvPr>
            <p:ph type="title"/>
          </p:nvPr>
        </p:nvSpPr>
        <p:spPr>
          <a:xfrm>
            <a:off x="0" y="357228"/>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IMPLEMENTATION OF MODULE-4</a:t>
            </a:r>
            <a:endParaRPr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pic>
        <p:nvPicPr>
          <p:cNvPr id="4" name="Picture 3">
            <a:extLst>
              <a:ext uri="{FF2B5EF4-FFF2-40B4-BE49-F238E27FC236}">
                <a16:creationId xmlns:a16="http://schemas.microsoft.com/office/drawing/2014/main" id="{168AE401-7906-FBCE-7831-492574816FF2}"/>
              </a:ext>
            </a:extLst>
          </p:cNvPr>
          <p:cNvPicPr>
            <a:picLocks noChangeAspect="1"/>
          </p:cNvPicPr>
          <p:nvPr/>
        </p:nvPicPr>
        <p:blipFill>
          <a:blip r:embed="rId3"/>
          <a:srcRect/>
          <a:stretch/>
        </p:blipFill>
        <p:spPr>
          <a:xfrm>
            <a:off x="6426627" y="1276754"/>
            <a:ext cx="5260258" cy="3945193"/>
          </a:xfrm>
          <a:prstGeom prst="rect">
            <a:avLst/>
          </a:prstGeom>
        </p:spPr>
      </p:pic>
      <p:sp>
        <p:nvSpPr>
          <p:cNvPr id="5" name="Text Placeholder 4">
            <a:extLst>
              <a:ext uri="{FF2B5EF4-FFF2-40B4-BE49-F238E27FC236}">
                <a16:creationId xmlns:a16="http://schemas.microsoft.com/office/drawing/2014/main" id="{1FF2FFC4-63FA-744D-B2F6-88699DD3E73A}"/>
              </a:ext>
            </a:extLst>
          </p:cNvPr>
          <p:cNvSpPr>
            <a:spLocks noGrp="1"/>
          </p:cNvSpPr>
          <p:nvPr>
            <p:ph type="body" idx="1"/>
          </p:nvPr>
        </p:nvSpPr>
        <p:spPr>
          <a:xfrm>
            <a:off x="923272" y="1440375"/>
            <a:ext cx="7049168" cy="3977250"/>
          </a:xfrm>
        </p:spPr>
        <p:txBody>
          <a:bodyPr/>
          <a:lstStyle/>
          <a:p>
            <a:pPr marL="628650" indent="-514350">
              <a:buFont typeface="+mj-lt"/>
              <a:buAutoNum type="arabicPeriod"/>
            </a:pPr>
            <a:r>
              <a:rPr lang="en-US" dirty="0"/>
              <a:t>Logs unknown networks
Logs fake Wi-Fi detection
Stores </a:t>
            </a:r>
            <a:r>
              <a:rPr lang="en-US" dirty="0" err="1"/>
              <a:t>timestamped</a:t>
            </a:r>
            <a:r>
              <a:rPr lang="en-US" dirty="0"/>
              <a:t> alerts in </a:t>
            </a:r>
            <a:r>
              <a:rPr lang="en-US" dirty="0" err="1"/>
              <a:t>wifi_alert_log.txt</a:t>
            </a:r>
            <a:r>
              <a:rPr lang="en-US" dirty="0"/>
              <a:t>
Updates logs dynamically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14"/>
          <p:cNvSpPr txBox="1">
            <a:spLocks noGrp="1"/>
          </p:cNvSpPr>
          <p:nvPr>
            <p:ph type="sldNum" idx="12"/>
          </p:nvPr>
        </p:nvSpPr>
        <p:spPr>
          <a:xfrm>
            <a:off x="8610600" y="6302829"/>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Arial Narrow" panose="020B0606020202030204" pitchFamily="34" charset="0"/>
              </a:rPr>
              <a:t>15</a:t>
            </a:fld>
            <a:endParaRPr b="1" dirty="0">
              <a:solidFill>
                <a:schemeClr val="dk1"/>
              </a:solidFill>
              <a:latin typeface="Arial Narrow" panose="020B0606020202030204" pitchFamily="34" charset="0"/>
            </a:endParaRPr>
          </a:p>
        </p:txBody>
      </p:sp>
      <p:sp>
        <p:nvSpPr>
          <p:cNvPr id="183" name="Google Shape;183;p14"/>
          <p:cNvSpPr txBox="1">
            <a:spLocks noGrp="1"/>
          </p:cNvSpPr>
          <p:nvPr>
            <p:ph type="title"/>
          </p:nvPr>
        </p:nvSpPr>
        <p:spPr>
          <a:xfrm>
            <a:off x="0" y="397837"/>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IMPLEMENTATION OF MODULE-5</a:t>
            </a:r>
            <a:endParaRPr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pic>
        <p:nvPicPr>
          <p:cNvPr id="4" name="Picture 3">
            <a:extLst>
              <a:ext uri="{FF2B5EF4-FFF2-40B4-BE49-F238E27FC236}">
                <a16:creationId xmlns:a16="http://schemas.microsoft.com/office/drawing/2014/main" id="{01ED2FC0-CEFD-0FD6-4BA8-50E17F7232E5}"/>
              </a:ext>
            </a:extLst>
          </p:cNvPr>
          <p:cNvPicPr>
            <a:picLocks noChangeAspect="1"/>
          </p:cNvPicPr>
          <p:nvPr/>
        </p:nvPicPr>
        <p:blipFill>
          <a:blip r:embed="rId3"/>
          <a:srcRect/>
          <a:stretch/>
        </p:blipFill>
        <p:spPr>
          <a:xfrm>
            <a:off x="6308090" y="1765536"/>
            <a:ext cx="5506065" cy="3654751"/>
          </a:xfrm>
          <a:prstGeom prst="rect">
            <a:avLst/>
          </a:prstGeom>
        </p:spPr>
      </p:pic>
      <p:sp>
        <p:nvSpPr>
          <p:cNvPr id="5" name="Text Placeholder 4">
            <a:extLst>
              <a:ext uri="{FF2B5EF4-FFF2-40B4-BE49-F238E27FC236}">
                <a16:creationId xmlns:a16="http://schemas.microsoft.com/office/drawing/2014/main" id="{D0C9EAD3-2976-6D95-DEC7-3F865B713FBF}"/>
              </a:ext>
            </a:extLst>
          </p:cNvPr>
          <p:cNvSpPr>
            <a:spLocks noGrp="1"/>
          </p:cNvSpPr>
          <p:nvPr>
            <p:ph type="body" idx="1"/>
          </p:nvPr>
        </p:nvSpPr>
        <p:spPr>
          <a:xfrm>
            <a:off x="838200" y="1397608"/>
            <a:ext cx="5257800" cy="4779355"/>
          </a:xfrm>
        </p:spPr>
        <p:txBody>
          <a:bodyPr/>
          <a:lstStyle/>
          <a:p>
            <a:pPr marL="628650" indent="-514350">
              <a:buFont typeface="+mj-lt"/>
              <a:buAutoNum type="arabicPeriod"/>
            </a:pPr>
            <a:r>
              <a:rPr lang="en-US" dirty="0"/>
              <a:t>Dynamic dashboard using Flask + HTML
Auto-refresh every 5 seconds
Displays connected Wi-Fi network
Color-coded risk levels (Safe, Medium, High)
Table view for all networks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130628" y="389982"/>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rPr>
              <a:t>CONCLUSION</a:t>
            </a:r>
            <a:endParaRPr b="1" dirty="0">
              <a:solidFill>
                <a:schemeClr val="tx1"/>
              </a:solidFill>
              <a:latin typeface="Arial Narrow" panose="020B0606020202030204" pitchFamily="34" charset="0"/>
              <a:ea typeface="Arial Narrow" panose="020B0606020202030204"/>
              <a:cs typeface="Times New Roman" panose="02020603050405020304" pitchFamily="18" charset="0"/>
              <a:sym typeface="Arial Narrow" panose="020B0606020202030204"/>
            </a:endParaRPr>
          </a:p>
        </p:txBody>
      </p:sp>
      <p:sp>
        <p:nvSpPr>
          <p:cNvPr id="196"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tx1"/>
                </a:solidFill>
                <a:latin typeface="Arial Narrow" panose="020B0606020202030204" pitchFamily="34" charset="0"/>
              </a:rPr>
              <a:t>16</a:t>
            </a:fld>
            <a:endParaRPr b="1" dirty="0">
              <a:solidFill>
                <a:schemeClr val="tx1"/>
              </a:solidFill>
              <a:latin typeface="Arial Narrow" panose="020B0606020202030204" pitchFamily="34" charset="0"/>
            </a:endParaRPr>
          </a:p>
        </p:txBody>
      </p:sp>
      <p:sp>
        <p:nvSpPr>
          <p:cNvPr id="3" name="Text Placeholder 2">
            <a:extLst>
              <a:ext uri="{FF2B5EF4-FFF2-40B4-BE49-F238E27FC236}">
                <a16:creationId xmlns:a16="http://schemas.microsoft.com/office/drawing/2014/main" id="{7CF3E918-4C26-BE25-D958-78B9539A0C27}"/>
              </a:ext>
            </a:extLst>
          </p:cNvPr>
          <p:cNvSpPr>
            <a:spLocks noGrp="1"/>
          </p:cNvSpPr>
          <p:nvPr>
            <p:ph type="body" idx="1"/>
          </p:nvPr>
        </p:nvSpPr>
        <p:spPr/>
        <p:txBody>
          <a:bodyPr>
            <a:normAutofit fontScale="92500"/>
          </a:bodyPr>
          <a:lstStyle/>
          <a:p>
            <a:r>
              <a:rPr lang="en-US" dirty="0"/>
              <a:t>The Wi-Fi Intrusion Detection System successfully provides a real-time solution for monitoring nearby wireless networks and identifying potential security threats. </a:t>
            </a:r>
          </a:p>
          <a:p>
            <a:r>
              <a:rPr lang="en-US" dirty="0"/>
              <a:t>By combining Wi-Fi scanning, risk classification, and a user-friendly web dashboard, the system helps users easily detect unknown and potentially malicious networks such as fake access points.</a:t>
            </a:r>
          </a:p>
          <a:p>
            <a:r>
              <a:rPr lang="en-US" dirty="0"/>
              <a:t> The integration of authentication with OTP enhances security, ensuring that only authorized users can access the system.</a:t>
            </a:r>
          </a:p>
          <a:p>
            <a:r>
              <a:rPr lang="en-US" dirty="0"/>
              <a:t> Overall, the project demonstrates an effective approach to improving wireless network awareness and security using simple yet powerful tools.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a:xfrm>
            <a:off x="8648616" y="6380928"/>
            <a:ext cx="2743200" cy="365125"/>
          </a:xfrm>
        </p:spPr>
        <p:txBody>
          <a:bodyPr/>
          <a:lstStyle/>
          <a:p>
            <a:pPr marL="0" lvl="0" indent="0" algn="r" rtl="0">
              <a:spcBef>
                <a:spcPts val="0"/>
              </a:spcBef>
              <a:spcAft>
                <a:spcPts val="0"/>
              </a:spcAft>
              <a:buNone/>
            </a:pPr>
            <a:fld id="{00000000-1234-1234-1234-123412341234}" type="slidenum">
              <a:rPr lang="en-US" b="1" smtClean="0">
                <a:solidFill>
                  <a:schemeClr val="tx1"/>
                </a:solidFill>
                <a:latin typeface="Arial Narrow" panose="020B0606020202030204" pitchFamily="34" charset="0"/>
              </a:rPr>
              <a:t>17</a:t>
            </a:fld>
            <a:endParaRPr lang="en-US" b="1" dirty="0">
              <a:solidFill>
                <a:schemeClr val="tx1"/>
              </a:solidFill>
              <a:latin typeface="Arial Narrow" panose="020B0606020202030204" pitchFamily="34" charset="0"/>
            </a:endParaRPr>
          </a:p>
        </p:txBody>
      </p:sp>
      <p:sp>
        <p:nvSpPr>
          <p:cNvPr id="5" name="Google Shape;194;p16"/>
          <p:cNvSpPr txBox="1"/>
          <p:nvPr/>
        </p:nvSpPr>
        <p:spPr>
          <a:xfrm>
            <a:off x="125100" y="111947"/>
            <a:ext cx="12066900" cy="8973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buSzPts val="4400"/>
            </a:pPr>
            <a:r>
              <a:rPr lang="en-US" sz="4400" b="1" dirty="0">
                <a:solidFill>
                  <a:schemeClr val="tx1"/>
                </a:solidFill>
                <a:latin typeface="Arial Narrow" panose="020B0606020202030204" pitchFamily="34" charset="0"/>
                <a:cs typeface="Times New Roman" panose="02020603050405020304" pitchFamily="18" charset="0"/>
              </a:rPr>
              <a:t>FUTURE ENHANCEMENTS </a:t>
            </a:r>
            <a:endParaRPr lang="en-US" sz="4400" b="1" dirty="0">
              <a:solidFill>
                <a:schemeClr val="tx1"/>
              </a:solidFill>
              <a:latin typeface="Arial Narrow" panose="020B0606020202030204" pitchFamily="34" charset="0"/>
              <a:cs typeface="Times New Roman" panose="02020603050405020304" pitchFamily="18" charset="0"/>
              <a:sym typeface="Arial Narrow" panose="020B0606020202030204"/>
            </a:endParaRPr>
          </a:p>
        </p:txBody>
      </p:sp>
      <p:sp>
        <p:nvSpPr>
          <p:cNvPr id="4" name="TextBox 3">
            <a:extLst>
              <a:ext uri="{FF2B5EF4-FFF2-40B4-BE49-F238E27FC236}">
                <a16:creationId xmlns:a16="http://schemas.microsoft.com/office/drawing/2014/main" id="{63C8DB2F-89C7-A322-049B-D49E3966C134}"/>
              </a:ext>
            </a:extLst>
          </p:cNvPr>
          <p:cNvSpPr txBox="1"/>
          <p:nvPr/>
        </p:nvSpPr>
        <p:spPr>
          <a:xfrm>
            <a:off x="1314016" y="1105585"/>
            <a:ext cx="9689067" cy="4832092"/>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Calibri" panose="020F0502020204030204" pitchFamily="34" charset="0"/>
              </a:rPr>
              <a:t>Real-time Notifications: Send instant alerts via mobile apps or SMS when a high-risk network is detected.</a:t>
            </a:r>
          </a:p>
          <a:p>
            <a:pPr marL="457200" indent="-457200">
              <a:buFont typeface="Arial" panose="020B0604020202020204" pitchFamily="34" charset="0"/>
              <a:buChar char="•"/>
            </a:pPr>
            <a:r>
              <a:rPr lang="en-US" sz="2800" dirty="0">
                <a:latin typeface="Calibri" panose="020F0502020204030204" pitchFamily="34" charset="0"/>
              </a:rPr>
              <a:t> </a:t>
            </a:r>
            <a:r>
              <a:rPr lang="en-US" sz="2800" dirty="0" err="1">
                <a:latin typeface="Calibri" panose="020F0502020204030204" pitchFamily="34" charset="0"/>
              </a:rPr>
              <a:t>MachineLearning</a:t>
            </a:r>
            <a:r>
              <a:rPr lang="en-US" sz="2800" dirty="0">
                <a:latin typeface="Calibri" panose="020F0502020204030204" pitchFamily="34" charset="0"/>
              </a:rPr>
              <a:t> Integration: Use AI models to improve accuracy in detecting suspicious networks and behavior patterns</a:t>
            </a:r>
          </a:p>
          <a:p>
            <a:pPr marL="457200" indent="-457200">
              <a:buFont typeface="Arial" panose="020B0604020202020204" pitchFamily="34" charset="0"/>
              <a:buChar char="•"/>
            </a:pPr>
            <a:r>
              <a:rPr lang="en-US" sz="2800" dirty="0">
                <a:latin typeface="Calibri" panose="020F0502020204030204" pitchFamily="34" charset="0"/>
              </a:rPr>
              <a:t>Automatic Blocking: Integrate firewall or system-level controls to automatically block connections to unsafe networks.</a:t>
            </a:r>
          </a:p>
          <a:p>
            <a:pPr marL="457200" indent="-457200">
              <a:buFont typeface="Arial" panose="020B0604020202020204" pitchFamily="34" charset="0"/>
              <a:buChar char="•"/>
            </a:pPr>
            <a:r>
              <a:rPr lang="en-US" sz="2800" dirty="0">
                <a:latin typeface="Calibri" panose="020F0502020204030204" pitchFamily="34" charset="0"/>
              </a:rPr>
              <a:t>Mobile Application: Develop an Android/iOS app for easier and portable monitoring.</a:t>
            </a:r>
          </a:p>
          <a:p>
            <a:pPr marL="457200" indent="-457200">
              <a:buFont typeface="Arial" panose="020B0604020202020204" pitchFamily="34" charset="0"/>
              <a:buChar char="•"/>
            </a:pPr>
            <a:r>
              <a:rPr lang="en-US" sz="2800" dirty="0">
                <a:latin typeface="Calibri" panose="020F0502020204030204" pitchFamily="34" charset="0"/>
              </a:rPr>
              <a:t>Geolocation Tracking: Map detected Wi-Fi networks to visualize their physical locations.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920</Words>
  <Application>Microsoft Office PowerPoint</Application>
  <PresentationFormat>Widescreen</PresentationFormat>
  <Paragraphs>157</Paragraphs>
  <Slides>17</Slides>
  <Notes>15</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SOFTWARE AND HARDWARE REQUIREMENTS </vt:lpstr>
      <vt:lpstr>MODULES </vt:lpstr>
      <vt:lpstr>IMPLEMENTATION OF MODULE-1</vt:lpstr>
      <vt:lpstr>IMPLEMENTATION OF MODULE-2</vt:lpstr>
      <vt:lpstr>IMPLEMENTATION OF MODULE-3</vt:lpstr>
      <vt:lpstr>IMPLEMENTATION OF MODULE-4</vt:lpstr>
      <vt:lpstr>IMPLEMENTATION OF MODULE-5</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Saravanan M</dc:creator>
  <cp:lastModifiedBy>919345329859</cp:lastModifiedBy>
  <cp:revision>18</cp:revision>
  <cp:lastPrinted>2026-02-11T03:58:00Z</cp:lastPrinted>
  <dcterms:created xsi:type="dcterms:W3CDTF">2026-03-29T15:01:22Z</dcterms:created>
  <dcterms:modified xsi:type="dcterms:W3CDTF">2026-05-05T02:53:24Z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2032D136464045D1814C2CFBE14885D9_12</vt:lpwstr>
  </property>
</Properties>
</file>